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868" y="-2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58368"/>
            <a:ext cx="45720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00" b="1">
                <a:solidFill>
                  <a:srgbClr val="315846"/>
                </a:solidFill>
                <a:latin typeface="Malgun Gothic"/>
              </a:defRPr>
            </a:pPr>
            <a:r>
              <a:t>PROJECT PRESENTATION  / 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63040"/>
            <a:ext cx="6949440" cy="1417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4800" b="1">
                <a:solidFill>
                  <a:srgbClr val="1D2924"/>
                </a:solidFill>
                <a:latin typeface="Malgun Gothic"/>
              </a:defRPr>
            </a:pPr>
            <a:r>
              <a:t>마음의 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816352"/>
            <a:ext cx="621792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300" b="0">
                <a:solidFill>
                  <a:srgbClr val="315846"/>
                </a:solidFill>
                <a:latin typeface="Malgun Gothic"/>
              </a:defRPr>
            </a:pPr>
            <a:r>
              <a:rPr dirty="0" err="1"/>
              <a:t>나를</a:t>
            </a:r>
            <a:r>
              <a:rPr dirty="0"/>
              <a:t> </a:t>
            </a:r>
            <a:r>
              <a:rPr dirty="0" err="1"/>
              <a:t>이루는</a:t>
            </a:r>
            <a:r>
              <a:rPr dirty="0"/>
              <a:t> </a:t>
            </a:r>
            <a:r>
              <a:rPr dirty="0" err="1"/>
              <a:t>다섯</a:t>
            </a:r>
            <a:r>
              <a:rPr dirty="0"/>
              <a:t> </a:t>
            </a:r>
            <a:r>
              <a:rPr dirty="0" err="1"/>
              <a:t>가지</a:t>
            </a:r>
            <a:r>
              <a:rPr dirty="0"/>
              <a:t> </a:t>
            </a:r>
            <a:r>
              <a:rPr dirty="0" err="1"/>
              <a:t>성향을</a:t>
            </a:r>
            <a:br>
              <a:rPr dirty="0"/>
            </a:br>
            <a:r>
              <a:rPr dirty="0" err="1"/>
              <a:t>가볍게</a:t>
            </a:r>
            <a:r>
              <a:rPr dirty="0"/>
              <a:t> </a:t>
            </a:r>
            <a:r>
              <a:rPr dirty="0" err="1"/>
              <a:t>살펴보는</a:t>
            </a:r>
            <a:r>
              <a:rPr dirty="0"/>
              <a:t> 웹 </a:t>
            </a:r>
            <a:r>
              <a:rPr dirty="0" err="1"/>
              <a:t>설문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22960" y="5257800"/>
            <a:ext cx="45720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1">
                <a:solidFill>
                  <a:srgbClr val="68736C"/>
                </a:solidFill>
                <a:latin typeface="Malgun Gothic"/>
              </a:defRPr>
            </a:pPr>
            <a:r>
              <a:t>HTML · CSS · JavaScript</a:t>
            </a:r>
          </a:p>
        </p:txBody>
      </p:sp>
      <p:sp>
        <p:nvSpPr>
          <p:cNvPr id="6" name="Oval 5"/>
          <p:cNvSpPr/>
          <p:nvPr/>
        </p:nvSpPr>
        <p:spPr>
          <a:xfrm>
            <a:off x="8275320" y="1143000"/>
            <a:ext cx="3017520" cy="3017520"/>
          </a:xfrm>
          <a:prstGeom prst="ellipse">
            <a:avLst/>
          </a:prstGeom>
          <a:solidFill>
            <a:srgbClr val="DCE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915400" y="1783080"/>
            <a:ext cx="1737360" cy="1737360"/>
          </a:xfrm>
          <a:prstGeom prst="ellipse">
            <a:avLst/>
          </a:prstGeom>
          <a:solidFill>
            <a:srgbClr val="315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635240" y="3246120"/>
            <a:ext cx="1280160" cy="1280160"/>
          </a:xfrm>
          <a:prstGeom prst="ellipse">
            <a:avLst/>
          </a:prstGeom>
          <a:solidFill>
            <a:srgbClr val="DDA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92440" y="6035040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315846"/>
                </a:solidFill>
                <a:latin typeface="Malgun Gothic"/>
              </a:defRPr>
            </a:pPr>
            <a:r>
              <a:t>SELF DISCOVERY, AT YOUR PACE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438912"/>
            <a:ext cx="347472" cy="54864"/>
          </a:xfrm>
          <a:prstGeom prst="rect">
            <a:avLst/>
          </a:prstGeom>
          <a:solidFill>
            <a:srgbClr val="315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00" b="1">
                <a:solidFill>
                  <a:srgbClr val="68736C"/>
                </a:solidFill>
                <a:latin typeface="Malgun Gothic"/>
              </a:defRPr>
            </a:pPr>
            <a:r>
              <a:t>마음의 결 | 프로젝트 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6217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3000" b="1">
                <a:solidFill>
                  <a:srgbClr val="1D2924"/>
                </a:solidFill>
                <a:latin typeface="Malgun Gothic"/>
              </a:defRPr>
            </a:pPr>
            <a:r>
              <a:t>무엇을 만드는 프로젝트인가요?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900" b="0">
                <a:solidFill>
                  <a:srgbClr val="68736C"/>
                </a:solidFill>
                <a:latin typeface="Malgun Gothic"/>
              </a:defRPr>
            </a:pPr>
            <a:r>
              <a:t>마음의 결 · Big Five 성향 탐색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900" b="1">
                <a:solidFill>
                  <a:srgbClr val="315846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4846320" cy="10972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200" b="1">
                <a:solidFill>
                  <a:srgbClr val="1D2924"/>
                </a:solidFill>
                <a:latin typeface="Malgun Gothic"/>
              </a:defRPr>
            </a:pPr>
            <a:r>
              <a:t>짧은 질문에 답하면</a:t>
            </a:r>
            <a:br/>
            <a:r>
              <a:t>나의 성향 지도를 보여주는 웹페이지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4800600" cy="72943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>
                <a:solidFill>
                  <a:srgbClr val="68736C"/>
                </a:solidFill>
                <a:latin typeface="Malgun Gothic"/>
              </a:defRPr>
            </a:pPr>
            <a:r>
              <a:rPr dirty="0" err="1"/>
              <a:t>로그인</a:t>
            </a:r>
            <a:r>
              <a:rPr dirty="0"/>
              <a:t> </a:t>
            </a:r>
            <a:r>
              <a:rPr dirty="0" err="1"/>
              <a:t>없이</a:t>
            </a:r>
            <a:r>
              <a:rPr lang="en-US" dirty="0"/>
              <a:t> </a:t>
            </a:r>
            <a:r>
              <a:rPr lang="ko-KR" altLang="en-US" dirty="0"/>
              <a:t>간단하게</a:t>
            </a:r>
            <a:r>
              <a:rPr dirty="0"/>
              <a:t> </a:t>
            </a:r>
            <a:r>
              <a:rPr dirty="0" err="1"/>
              <a:t>바로</a:t>
            </a:r>
            <a:r>
              <a:rPr dirty="0"/>
              <a:t> </a:t>
            </a:r>
            <a:r>
              <a:rPr dirty="0" err="1"/>
              <a:t>시작하고</a:t>
            </a:r>
            <a:r>
              <a:rPr dirty="0"/>
              <a:t>, 12개 </a:t>
            </a:r>
            <a:r>
              <a:rPr dirty="0" err="1"/>
              <a:t>문항에</a:t>
            </a:r>
            <a:r>
              <a:rPr dirty="0"/>
              <a:t> </a:t>
            </a:r>
            <a:r>
              <a:rPr dirty="0" err="1"/>
              <a:t>응답하면</a:t>
            </a:r>
            <a:r>
              <a:rPr dirty="0"/>
              <a:t> </a:t>
            </a:r>
            <a:r>
              <a:rPr dirty="0" err="1"/>
              <a:t>다섯</a:t>
            </a:r>
            <a:r>
              <a:rPr dirty="0"/>
              <a:t> </a:t>
            </a:r>
            <a:r>
              <a:rPr dirty="0" err="1"/>
              <a:t>성향</a:t>
            </a:r>
            <a:r>
              <a:rPr dirty="0"/>
              <a:t> </a:t>
            </a:r>
            <a:r>
              <a:rPr dirty="0" err="1"/>
              <a:t>점수와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두드러진</a:t>
            </a:r>
            <a:r>
              <a:rPr dirty="0"/>
              <a:t> </a:t>
            </a:r>
            <a:r>
              <a:rPr dirty="0" err="1"/>
              <a:t>성향</a:t>
            </a:r>
            <a:r>
              <a:rPr dirty="0"/>
              <a:t> </a:t>
            </a:r>
            <a:r>
              <a:rPr dirty="0" err="1"/>
              <a:t>설명을</a:t>
            </a:r>
            <a:r>
              <a:rPr dirty="0"/>
              <a:t> </a:t>
            </a:r>
            <a:r>
              <a:rPr dirty="0" err="1"/>
              <a:t>확인합니다</a:t>
            </a:r>
            <a:r>
              <a:rPr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874519"/>
            <a:ext cx="246888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0488" y="2057400"/>
            <a:ext cx="2066544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600" b="1">
                <a:solidFill>
                  <a:srgbClr val="315846"/>
                </a:solidFill>
                <a:latin typeface="Malgun Gothic"/>
              </a:defRPr>
            </a:pP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경험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190488" y="2496312"/>
            <a:ext cx="2066544" cy="8371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1D2924"/>
                </a:solidFill>
                <a:latin typeface="Malgun Gothic"/>
              </a:defRPr>
            </a:pPr>
            <a:r>
              <a:rPr lang="ko-KR" altLang="en-US" dirty="0"/>
              <a:t>소요시긴 </a:t>
            </a:r>
            <a:r>
              <a:rPr lang="en-US" altLang="ko-KR" dirty="0"/>
              <a:t>: </a:t>
            </a:r>
            <a:r>
              <a:rPr dirty="0"/>
              <a:t>약 2분</a:t>
            </a:r>
            <a:br>
              <a:rPr dirty="0"/>
            </a:br>
            <a:r>
              <a:rPr lang="ko-KR" altLang="en-US" dirty="0"/>
              <a:t>질문 개수 </a:t>
            </a:r>
            <a:r>
              <a:rPr lang="en-US" altLang="ko-KR" dirty="0"/>
              <a:t>: </a:t>
            </a:r>
            <a:r>
              <a:rPr dirty="0"/>
              <a:t>12개</a:t>
            </a:r>
            <a:br>
              <a:rPr dirty="0"/>
            </a:br>
            <a:endParaRPr lang="en-US" dirty="0"/>
          </a:p>
          <a:p>
            <a:pPr algn="l">
              <a:defRPr sz="1300" b="0">
                <a:solidFill>
                  <a:srgbClr val="1D2924"/>
                </a:solidFill>
                <a:latin typeface="Malgun Gothic"/>
              </a:defRPr>
            </a:pPr>
            <a:r>
              <a:rPr dirty="0" err="1"/>
              <a:t>모바일·PC</a:t>
            </a:r>
            <a:r>
              <a:rPr dirty="0"/>
              <a:t> </a:t>
            </a:r>
            <a:r>
              <a:rPr dirty="0" err="1"/>
              <a:t>대응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8668512" y="1874519"/>
            <a:ext cx="274320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0" y="2057400"/>
            <a:ext cx="2340864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600" b="1">
                <a:solidFill>
                  <a:srgbClr val="315846"/>
                </a:solidFill>
                <a:latin typeface="Malgun Gothic"/>
              </a:defRPr>
            </a:pPr>
            <a:r>
              <a:t>프로젝트 목표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496312"/>
            <a:ext cx="2340864" cy="18105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1D2924"/>
                </a:solidFill>
                <a:latin typeface="Malgun Gothic"/>
              </a:defRPr>
            </a:pPr>
            <a:r>
              <a:t>자기 이해를 돕는</a:t>
            </a:r>
            <a:br/>
            <a:r>
              <a:t>간단하고 편안한</a:t>
            </a:r>
            <a:br/>
            <a:r>
              <a:t>성향 탐색 경험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120640"/>
            <a:ext cx="1965960" cy="347472"/>
          </a:xfrm>
          <a:prstGeom prst="roundRect">
            <a:avLst>
              <a:gd name="adj" fmla="val 15000"/>
            </a:avLst>
          </a:prstGeom>
          <a:solidFill>
            <a:srgbClr val="E9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" y="5166359"/>
            <a:ext cx="1892807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315846"/>
                </a:solidFill>
                <a:latin typeface="Malgun Gothic"/>
              </a:defRPr>
            </a:pPr>
            <a:r>
              <a:t>개인정보 입력 없음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61488" y="5120640"/>
            <a:ext cx="1920240" cy="347472"/>
          </a:xfrm>
          <a:prstGeom prst="roundRect">
            <a:avLst>
              <a:gd name="adj" fmla="val 15000"/>
            </a:avLst>
          </a:prstGeom>
          <a:solidFill>
            <a:srgbClr val="E9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98064" y="5166359"/>
            <a:ext cx="1847088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315846"/>
                </a:solidFill>
                <a:latin typeface="Malgun Gothic"/>
              </a:defRPr>
            </a:pPr>
            <a:r>
              <a:t>결과 즉시 확인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438912"/>
            <a:ext cx="347472" cy="54864"/>
          </a:xfrm>
          <a:prstGeom prst="rect">
            <a:avLst/>
          </a:prstGeom>
          <a:solidFill>
            <a:srgbClr val="315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00" b="1">
                <a:solidFill>
                  <a:srgbClr val="68736C"/>
                </a:solidFill>
                <a:latin typeface="Malgun Gothic"/>
              </a:defRPr>
            </a:pPr>
            <a:r>
              <a:t>마음의 결 | 프로젝트 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6217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3000" b="1">
                <a:solidFill>
                  <a:srgbClr val="1D2924"/>
                </a:solidFill>
                <a:latin typeface="Malgun Gothic"/>
              </a:defRPr>
            </a:pPr>
            <a:r>
              <a:t>성격을 다섯 개의 연속선으로 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900" b="0">
                <a:solidFill>
                  <a:srgbClr val="68736C"/>
                </a:solidFill>
                <a:latin typeface="Malgun Gothic"/>
              </a:defRPr>
            </a:pPr>
            <a:r>
              <a:t>마음의 결 · Big Five 성향 탐색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900" b="1">
                <a:solidFill>
                  <a:srgbClr val="315846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51560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600" b="0">
                <a:solidFill>
                  <a:srgbClr val="68736C"/>
                </a:solidFill>
                <a:latin typeface="Malgun Gothic"/>
              </a:defRPr>
            </a:pPr>
            <a:r>
              <a:t>Big Five 모델의 다섯 차원을 참고해 각 성향 점수를 따로 계산합니다.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468880"/>
            <a:ext cx="3429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2651760"/>
            <a:ext cx="3026664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600" b="1">
                <a:solidFill>
                  <a:srgbClr val="315846"/>
                </a:solidFill>
                <a:latin typeface="Malgun Gothic"/>
              </a:defRPr>
            </a:pPr>
            <a:r>
              <a:t>O  개방성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090672"/>
            <a:ext cx="3026664" cy="3931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1D2924"/>
                </a:solidFill>
                <a:latin typeface="Malgun Gothic"/>
              </a:defRPr>
            </a:pPr>
            <a:r>
              <a:t>새로운 경험과 아이디어에 대한 관심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2468880"/>
            <a:ext cx="3429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26864" y="2651760"/>
            <a:ext cx="3026664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600" b="1">
                <a:solidFill>
                  <a:srgbClr val="315846"/>
                </a:solidFill>
                <a:latin typeface="Malgun Gothic"/>
              </a:defRPr>
            </a:pPr>
            <a:r>
              <a:t>C  성실성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3090672"/>
            <a:ext cx="3026664" cy="3931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1D2924"/>
                </a:solidFill>
                <a:latin typeface="Malgun Gothic"/>
              </a:defRPr>
            </a:pPr>
            <a:r>
              <a:t>계획·책임·꾸준함의 경향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4" y="2468880"/>
            <a:ext cx="3429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94192" y="2651760"/>
            <a:ext cx="3026664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600" b="1">
                <a:solidFill>
                  <a:srgbClr val="315846"/>
                </a:solidFill>
                <a:latin typeface="Malgun Gothic"/>
              </a:defRPr>
            </a:pPr>
            <a:r>
              <a:t>E  외향성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3090672"/>
            <a:ext cx="3026664" cy="3931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1D2924"/>
                </a:solidFill>
                <a:latin typeface="Malgun Gothic"/>
              </a:defRPr>
            </a:pPr>
            <a:r>
              <a:t>사람·활동에서 얻는 활력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886200"/>
            <a:ext cx="3429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" y="4069080"/>
            <a:ext cx="3026664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600" b="1">
                <a:solidFill>
                  <a:srgbClr val="315846"/>
                </a:solidFill>
                <a:latin typeface="Malgun Gothic"/>
              </a:defRPr>
            </a:pPr>
            <a:r>
              <a:t>A  우호성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4507992"/>
            <a:ext cx="3026664" cy="3931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1D2924"/>
                </a:solidFill>
                <a:latin typeface="Malgun Gothic"/>
              </a:defRPr>
            </a:pPr>
            <a:r>
              <a:t>협력과 타인에 대한 배려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25696" y="3886200"/>
            <a:ext cx="3429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26864" y="4069080"/>
            <a:ext cx="3026664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600" b="1">
                <a:solidFill>
                  <a:srgbClr val="315846"/>
                </a:solidFill>
                <a:latin typeface="Malgun Gothic"/>
              </a:defRPr>
            </a:pPr>
            <a:r>
              <a:t>N  정서 민감성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6864" y="4507992"/>
            <a:ext cx="3026664" cy="3931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1D2924"/>
                </a:solidFill>
                <a:latin typeface="Malgun Gothic"/>
              </a:defRPr>
            </a:pPr>
            <a:r>
              <a:t>걱정이나 긴장을 느끼는 경향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623560"/>
            <a:ext cx="10607040" cy="63709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1">
                <a:solidFill>
                  <a:srgbClr val="315846"/>
                </a:solidFill>
                <a:latin typeface="Malgun Gothic"/>
              </a:defRPr>
            </a:pPr>
            <a:r>
              <a:rPr dirty="0" err="1"/>
              <a:t>결과는</a:t>
            </a:r>
            <a:r>
              <a:rPr dirty="0"/>
              <a:t> </a:t>
            </a:r>
            <a:r>
              <a:rPr dirty="0" err="1"/>
              <a:t>진단이나</a:t>
            </a:r>
            <a:r>
              <a:rPr dirty="0"/>
              <a:t> </a:t>
            </a:r>
            <a:r>
              <a:rPr dirty="0" err="1"/>
              <a:t>고정된</a:t>
            </a:r>
            <a:r>
              <a:rPr dirty="0"/>
              <a:t> </a:t>
            </a:r>
            <a:r>
              <a:rPr dirty="0" err="1"/>
              <a:t>유형이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, </a:t>
            </a:r>
            <a:r>
              <a:rPr dirty="0" err="1"/>
              <a:t>현재의</a:t>
            </a:r>
            <a:r>
              <a:rPr dirty="0"/>
              <a:t> </a:t>
            </a:r>
            <a:r>
              <a:rPr dirty="0" err="1"/>
              <a:t>자기</a:t>
            </a:r>
            <a:r>
              <a:rPr dirty="0"/>
              <a:t> </a:t>
            </a:r>
            <a:r>
              <a:rPr dirty="0" err="1"/>
              <a:t>성향을</a:t>
            </a:r>
            <a:r>
              <a:rPr dirty="0"/>
              <a:t> </a:t>
            </a:r>
            <a:r>
              <a:rPr dirty="0" err="1"/>
              <a:t>돌아보는</a:t>
            </a:r>
            <a:r>
              <a:rPr dirty="0"/>
              <a:t> </a:t>
            </a:r>
            <a:r>
              <a:rPr dirty="0" err="1"/>
              <a:t>참고</a:t>
            </a:r>
            <a:r>
              <a:rPr dirty="0"/>
              <a:t> </a:t>
            </a:r>
            <a:r>
              <a:rPr dirty="0" err="1"/>
              <a:t>자료입니다</a:t>
            </a:r>
            <a:r>
              <a:rPr dirty="0"/>
              <a:t>.</a:t>
            </a:r>
            <a:endParaRPr lang="en-US" dirty="0"/>
          </a:p>
          <a:p>
            <a:pPr algn="l">
              <a:defRPr sz="1300" b="1">
                <a:solidFill>
                  <a:srgbClr val="315846"/>
                </a:solidFill>
                <a:latin typeface="Malgun Gothic"/>
              </a:defRPr>
            </a:pPr>
            <a:endParaRPr lang="en-US" dirty="0"/>
          </a:p>
          <a:p>
            <a:pPr>
              <a:defRPr sz="1300" b="1">
                <a:solidFill>
                  <a:srgbClr val="315846"/>
                </a:solidFill>
                <a:latin typeface="Malgun Gothic"/>
              </a:defRPr>
            </a:pPr>
            <a:r>
              <a:rPr lang="ko-KR" altLang="en-US" dirty="0"/>
              <a:t>참고논문 </a:t>
            </a:r>
            <a:r>
              <a:rPr lang="en-US" altLang="ko-KR" dirty="0"/>
              <a:t>: https://dictionary.apa.org/big-five-personality-model 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438912"/>
            <a:ext cx="347472" cy="54864"/>
          </a:xfrm>
          <a:prstGeom prst="rect">
            <a:avLst/>
          </a:prstGeom>
          <a:solidFill>
            <a:srgbClr val="315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00" b="1">
                <a:solidFill>
                  <a:srgbClr val="68736C"/>
                </a:solidFill>
                <a:latin typeface="Malgun Gothic"/>
              </a:defRPr>
            </a:pPr>
            <a:r>
              <a:t>마음의 결 | 프로젝트 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6217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3000" b="1">
                <a:solidFill>
                  <a:srgbClr val="1D2924"/>
                </a:solidFill>
                <a:latin typeface="Malgun Gothic"/>
              </a:defRPr>
            </a:pPr>
            <a:r>
              <a:t>사용 흐름은 세 단계입니다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900" b="0">
                <a:solidFill>
                  <a:srgbClr val="68736C"/>
                </a:solidFill>
                <a:latin typeface="Malgun Gothic"/>
              </a:defRPr>
            </a:pPr>
            <a:r>
              <a:t>마음의 결 · Big Five 성향 탐색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900" b="1">
                <a:solidFill>
                  <a:srgbClr val="315846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342900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542032"/>
            <a:ext cx="59436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1">
                <a:solidFill>
                  <a:srgbClr val="315846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283464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100" b="1">
                <a:solidFill>
                  <a:srgbClr val="1D2924"/>
                </a:solidFill>
                <a:latin typeface="Malgun Gothic"/>
              </a:defRPr>
            </a:pPr>
            <a:r>
              <a:t>시작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288036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0">
                <a:solidFill>
                  <a:srgbClr val="68736C"/>
                </a:solidFill>
                <a:latin typeface="Malgun Gothic"/>
              </a:defRPr>
            </a:pPr>
            <a:r>
              <a:t>첫 화면에서 성향 알아보기 버튼을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8808" y="3337560"/>
            <a:ext cx="2743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900" b="1">
                <a:solidFill>
                  <a:srgbClr val="315846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286000"/>
            <a:ext cx="342900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60" y="2542032"/>
            <a:ext cx="59436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1">
                <a:solidFill>
                  <a:srgbClr val="315846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063240"/>
            <a:ext cx="283464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100" b="1">
                <a:solidFill>
                  <a:srgbClr val="1D2924"/>
                </a:solidFill>
                <a:latin typeface="Malgun Gothic"/>
              </a:defRPr>
            </a:pPr>
            <a:r>
              <a:t>응답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657600"/>
            <a:ext cx="288036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0">
                <a:solidFill>
                  <a:srgbClr val="68736C"/>
                </a:solidFill>
                <a:latin typeface="Malgun Gothic"/>
              </a:defRPr>
            </a:pPr>
            <a:r>
              <a:t>각 문항을 1~5점 중 하나로 선택하고 다음으로 이동합니다.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3568" y="3337560"/>
            <a:ext cx="2743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900" b="1">
                <a:solidFill>
                  <a:srgbClr val="315846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2286000"/>
            <a:ext cx="342900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0" y="2542032"/>
            <a:ext cx="59436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1">
                <a:solidFill>
                  <a:srgbClr val="315846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063240"/>
            <a:ext cx="283464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100" b="1">
                <a:solidFill>
                  <a:srgbClr val="1D2924"/>
                </a:solidFill>
                <a:latin typeface="Malgun Gothic"/>
              </a:defRPr>
            </a:pPr>
            <a:r>
              <a:t>결과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657600"/>
            <a:ext cx="288036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0">
                <a:solidFill>
                  <a:srgbClr val="68736C"/>
                </a:solidFill>
                <a:latin typeface="Malgun Gothic"/>
              </a:defRPr>
            </a:pPr>
            <a:r>
              <a:t>가장 높은 성향과 다섯 성향의 점수 막대를 확인합니다.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5303520"/>
            <a:ext cx="2103120" cy="3474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" y="5349240"/>
            <a:ext cx="2029967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315846"/>
                </a:solidFill>
                <a:latin typeface="Malgun Gothic"/>
              </a:defRPr>
            </a:pPr>
            <a:r>
              <a:t>이전 문항으로 이동 가능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71800" y="5303520"/>
            <a:ext cx="1645920" cy="3474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08376" y="5349240"/>
            <a:ext cx="1572768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315846"/>
                </a:solidFill>
                <a:latin typeface="Malgun Gothic"/>
              </a:defRPr>
            </a:pPr>
            <a:r>
              <a:t>다시 해보기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5303520"/>
            <a:ext cx="1828800" cy="3474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91456" y="5349240"/>
            <a:ext cx="1755648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315846"/>
                </a:solidFill>
                <a:latin typeface="Malgun Gothic"/>
              </a:defRPr>
            </a:pPr>
            <a:r>
              <a:t>결과 공유하기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438912"/>
            <a:ext cx="347472" cy="54864"/>
          </a:xfrm>
          <a:prstGeom prst="rect">
            <a:avLst/>
          </a:prstGeom>
          <a:solidFill>
            <a:srgbClr val="315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00" b="1">
                <a:solidFill>
                  <a:srgbClr val="68736C"/>
                </a:solidFill>
                <a:latin typeface="Malgun Gothic"/>
              </a:defRPr>
            </a:pPr>
            <a:r>
              <a:t>마음의 결 | 프로젝트 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6217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3000" b="1">
                <a:solidFill>
                  <a:srgbClr val="1D2924"/>
                </a:solidFill>
                <a:latin typeface="Malgun Gothic"/>
              </a:defRPr>
            </a:pPr>
            <a:r>
              <a:t>코드는 역할별로 나뉩니다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900" b="0">
                <a:solidFill>
                  <a:srgbClr val="68736C"/>
                </a:solidFill>
                <a:latin typeface="Malgun Gothic"/>
              </a:defRPr>
            </a:pPr>
            <a:r>
              <a:t>마음의 결 · Big Five 성향 탐색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900" b="1">
                <a:solidFill>
                  <a:srgbClr val="315846"/>
                </a:solidFill>
                <a:latin typeface="Malgun Gothic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3456432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2057400"/>
            <a:ext cx="3054096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600" b="1">
                <a:solidFill>
                  <a:srgbClr val="315846"/>
                </a:solidFill>
                <a:latin typeface="Malgun Gothic"/>
              </a:defRPr>
            </a:pPr>
            <a:r>
              <a:t>HTML · 화면 구조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6312"/>
            <a:ext cx="3054096" cy="43704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1D2924"/>
                </a:solidFill>
                <a:latin typeface="Malgun Gothic"/>
              </a:defRPr>
            </a:pPr>
            <a:r>
              <a:rPr dirty="0" err="1"/>
              <a:t>시작</a:t>
            </a:r>
            <a:r>
              <a:rPr dirty="0"/>
              <a:t> </a:t>
            </a:r>
            <a:r>
              <a:rPr dirty="0" err="1"/>
              <a:t>화면</a:t>
            </a:r>
            <a:r>
              <a:rPr dirty="0"/>
              <a:t>, </a:t>
            </a:r>
            <a:r>
              <a:rPr dirty="0" err="1"/>
              <a:t>설문</a:t>
            </a:r>
            <a:r>
              <a:rPr dirty="0"/>
              <a:t> </a:t>
            </a:r>
            <a:r>
              <a:rPr dirty="0" err="1"/>
              <a:t>영역</a:t>
            </a:r>
            <a:r>
              <a:rPr dirty="0"/>
              <a:t>, </a:t>
            </a:r>
            <a:r>
              <a:rPr dirty="0" err="1"/>
              <a:t>결과</a:t>
            </a:r>
            <a:r>
              <a:rPr dirty="0"/>
              <a:t> </a:t>
            </a:r>
            <a:r>
              <a:rPr dirty="0" err="1"/>
              <a:t>영역을</a:t>
            </a:r>
            <a:r>
              <a:rPr dirty="0"/>
              <a:t> </a:t>
            </a:r>
            <a:r>
              <a:rPr dirty="0" err="1"/>
              <a:t>구성합니다</a:t>
            </a:r>
            <a:r>
              <a:rPr dirty="0"/>
              <a:t>.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874519"/>
            <a:ext cx="3456432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2057400"/>
            <a:ext cx="3054096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600" b="1">
                <a:solidFill>
                  <a:srgbClr val="315846"/>
                </a:solidFill>
                <a:latin typeface="Malgun Gothic"/>
              </a:defRPr>
            </a:pPr>
            <a:r>
              <a:t>CSS · 디자인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96312"/>
            <a:ext cx="3054096" cy="43704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1D2924"/>
                </a:solidFill>
                <a:latin typeface="Malgun Gothic"/>
              </a:defRPr>
            </a:pPr>
            <a:r>
              <a:rPr dirty="0" err="1"/>
              <a:t>색상</a:t>
            </a:r>
            <a:r>
              <a:rPr dirty="0"/>
              <a:t> </a:t>
            </a:r>
            <a:r>
              <a:rPr dirty="0" err="1"/>
              <a:t>변수와</a:t>
            </a:r>
            <a:r>
              <a:rPr dirty="0"/>
              <a:t> </a:t>
            </a:r>
            <a:r>
              <a:rPr dirty="0" err="1"/>
              <a:t>카드·버튼</a:t>
            </a:r>
            <a:r>
              <a:rPr dirty="0"/>
              <a:t> </a:t>
            </a:r>
            <a:r>
              <a:rPr dirty="0" err="1"/>
              <a:t>스타일을</a:t>
            </a:r>
            <a:r>
              <a:rPr dirty="0"/>
              <a:t> </a:t>
            </a:r>
            <a:r>
              <a:rPr dirty="0" err="1"/>
              <a:t>정의합니다</a:t>
            </a:r>
            <a:r>
              <a:rPr dirty="0"/>
              <a:t>.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74519"/>
            <a:ext cx="3456432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2057400"/>
            <a:ext cx="3054096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600" b="1">
                <a:solidFill>
                  <a:srgbClr val="DDA97B"/>
                </a:solidFill>
                <a:latin typeface="Malgun Gothic"/>
              </a:defRPr>
            </a:pPr>
            <a:r>
              <a:t>JavaScript · 동작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496312"/>
            <a:ext cx="3054096" cy="43704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1D2924"/>
                </a:solidFill>
                <a:latin typeface="Malgun Gothic"/>
              </a:defRPr>
            </a:pPr>
            <a:r>
              <a:rPr dirty="0" err="1"/>
              <a:t>질문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, </a:t>
            </a:r>
            <a:r>
              <a:rPr dirty="0" err="1"/>
              <a:t>응답</a:t>
            </a:r>
            <a:r>
              <a:rPr dirty="0"/>
              <a:t> </a:t>
            </a:r>
            <a:r>
              <a:rPr dirty="0" err="1"/>
              <a:t>저장</a:t>
            </a:r>
            <a:r>
              <a:rPr dirty="0"/>
              <a:t>, </a:t>
            </a:r>
            <a:r>
              <a:rPr dirty="0" err="1"/>
              <a:t>진행</a:t>
            </a:r>
            <a:r>
              <a:rPr dirty="0"/>
              <a:t> </a:t>
            </a:r>
            <a:r>
              <a:rPr dirty="0" err="1"/>
              <a:t>표시</a:t>
            </a:r>
            <a:r>
              <a:rPr dirty="0"/>
              <a:t>, </a:t>
            </a:r>
            <a:r>
              <a:rPr dirty="0" err="1"/>
              <a:t>점수</a:t>
            </a:r>
            <a:r>
              <a:rPr dirty="0"/>
              <a:t> </a:t>
            </a:r>
            <a:r>
              <a:rPr dirty="0" err="1"/>
              <a:t>계산</a:t>
            </a:r>
            <a:r>
              <a:rPr lang="en-US" dirty="0"/>
              <a:t> </a:t>
            </a:r>
            <a:r>
              <a:rPr lang="ko-KR" altLang="en-US" dirty="0"/>
              <a:t>등 </a:t>
            </a:r>
            <a:r>
              <a:rPr dirty="0" err="1"/>
              <a:t>기능을</a:t>
            </a:r>
            <a:r>
              <a:rPr dirty="0"/>
              <a:t> </a:t>
            </a:r>
            <a:r>
              <a:rPr dirty="0" err="1"/>
              <a:t>처리합니다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438912"/>
            <a:ext cx="347472" cy="54864"/>
          </a:xfrm>
          <a:prstGeom prst="rect">
            <a:avLst/>
          </a:prstGeom>
          <a:solidFill>
            <a:srgbClr val="315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00" b="1">
                <a:solidFill>
                  <a:srgbClr val="68736C"/>
                </a:solidFill>
                <a:latin typeface="Malgun Gothic"/>
              </a:defRPr>
            </a:pPr>
            <a:r>
              <a:t>마음의 결 | 프로젝트 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6217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3000" b="1">
                <a:solidFill>
                  <a:srgbClr val="1D2924"/>
                </a:solidFill>
                <a:latin typeface="Malgun Gothic"/>
              </a:defRPr>
            </a:pPr>
            <a:r>
              <a:t>점수는 어떻게 계산되나요?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900" b="0">
                <a:solidFill>
                  <a:srgbClr val="68736C"/>
                </a:solidFill>
                <a:latin typeface="Malgun Gothic"/>
              </a:defRPr>
            </a:pPr>
            <a:r>
              <a:t>마음의 결 · Big Five 성향 탐색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900" b="1">
                <a:solidFill>
                  <a:srgbClr val="315846"/>
                </a:solidFill>
                <a:latin typeface="Malgun Gothic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466344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800" b="1">
                <a:solidFill>
                  <a:srgbClr val="315846"/>
                </a:solidFill>
                <a:latin typeface="Malgun Gothic"/>
              </a:defRPr>
            </a:pPr>
            <a:r>
              <a:t>문항 응답 → 성향별 합계 → 0~100 환산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4800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788920"/>
            <a:ext cx="4389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800" b="1">
                <a:solidFill>
                  <a:srgbClr val="1D2924"/>
                </a:solidFill>
                <a:latin typeface="Malgun Gothic"/>
              </a:defRPr>
            </a:pPr>
            <a:r>
              <a:t>((평균 응답 − 1) ÷ 4) × 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86200"/>
            <a:ext cx="4754880" cy="9144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0">
                <a:solidFill>
                  <a:srgbClr val="68736C"/>
                </a:solidFill>
                <a:latin typeface="Malgun Gothic"/>
              </a:defRPr>
            </a:pPr>
            <a:r>
              <a:rPr dirty="0"/>
              <a:t>예: </a:t>
            </a:r>
            <a:r>
              <a:rPr dirty="0" err="1"/>
              <a:t>평균</a:t>
            </a:r>
            <a:r>
              <a:rPr dirty="0"/>
              <a:t> 4점이면 75점</a:t>
            </a:r>
            <a:br>
              <a:rPr dirty="0"/>
            </a:br>
            <a:r>
              <a:rPr dirty="0"/>
              <a:t>1점은 0점, 5점은 100점으로 </a:t>
            </a:r>
            <a:r>
              <a:rPr dirty="0" err="1"/>
              <a:t>환산됩니다</a:t>
            </a:r>
            <a:r>
              <a:rPr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2011680"/>
            <a:ext cx="51663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90488" y="2194560"/>
            <a:ext cx="4764024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600" b="1">
                <a:solidFill>
                  <a:srgbClr val="315846"/>
                </a:solidFill>
                <a:latin typeface="Malgun Gothic"/>
              </a:defRPr>
            </a:pPr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점수가</a:t>
            </a:r>
            <a:r>
              <a:rPr dirty="0"/>
              <a:t> </a:t>
            </a:r>
            <a:r>
              <a:rPr dirty="0" err="1"/>
              <a:t>높은</a:t>
            </a:r>
            <a:r>
              <a:rPr dirty="0"/>
              <a:t> </a:t>
            </a:r>
            <a:r>
              <a:rPr dirty="0" err="1"/>
              <a:t>성향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6190488" y="2633472"/>
            <a:ext cx="4764024" cy="6675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1D2924"/>
                </a:solidFill>
                <a:latin typeface="Malgun Gothic"/>
              </a:defRPr>
            </a:pPr>
            <a:r>
              <a:t>가장 높은 점수에 해당하는 설명을 대표 결과로 보여줍니다.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3657600"/>
            <a:ext cx="51663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90488" y="3840480"/>
            <a:ext cx="4764024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600" b="1">
                <a:solidFill>
                  <a:srgbClr val="315846"/>
                </a:solidFill>
                <a:latin typeface="Malgun Gothic"/>
              </a:defRPr>
            </a:pPr>
            <a:r>
              <a:t>다섯 성향 모두 표시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4279392"/>
            <a:ext cx="4764024" cy="6675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1D2924"/>
                </a:solidFill>
                <a:latin typeface="Malgun Gothic"/>
              </a:defRPr>
            </a:pPr>
            <a:r>
              <a:rPr dirty="0" err="1"/>
              <a:t>막대그래프로</a:t>
            </a:r>
            <a:r>
              <a:rPr dirty="0"/>
              <a:t> </a:t>
            </a:r>
            <a:r>
              <a:rPr dirty="0" err="1"/>
              <a:t>점수를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보여줘</a:t>
            </a:r>
            <a:r>
              <a:rPr dirty="0"/>
              <a:t> 한 </a:t>
            </a:r>
            <a:r>
              <a:rPr dirty="0" err="1"/>
              <a:t>가지</a:t>
            </a:r>
            <a:r>
              <a:rPr dirty="0"/>
              <a:t> </a:t>
            </a:r>
            <a:r>
              <a:rPr dirty="0" err="1"/>
              <a:t>라벨만으로</a:t>
            </a:r>
            <a:r>
              <a:rPr dirty="0"/>
              <a:t> </a:t>
            </a:r>
            <a:r>
              <a:rPr dirty="0" err="1"/>
              <a:t>해석하지</a:t>
            </a:r>
            <a:r>
              <a:rPr dirty="0"/>
              <a:t> </a:t>
            </a:r>
            <a:r>
              <a:rPr dirty="0" err="1"/>
              <a:t>않도록</a:t>
            </a:r>
            <a:r>
              <a:rPr dirty="0"/>
              <a:t> </a:t>
            </a:r>
            <a:r>
              <a:rPr dirty="0" err="1"/>
              <a:t>합니다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438912"/>
            <a:ext cx="347472" cy="54864"/>
          </a:xfrm>
          <a:prstGeom prst="rect">
            <a:avLst/>
          </a:prstGeom>
          <a:solidFill>
            <a:srgbClr val="315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00" b="1">
                <a:solidFill>
                  <a:srgbClr val="68736C"/>
                </a:solidFill>
                <a:latin typeface="Malgun Gothic"/>
              </a:defRPr>
            </a:pPr>
            <a:r>
              <a:t>마음의 결 | 프로젝트 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6217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3000" b="1">
                <a:solidFill>
                  <a:srgbClr val="1D2924"/>
                </a:solidFill>
                <a:latin typeface="Malgun Gothic"/>
              </a:defRPr>
            </a:pPr>
            <a:r>
              <a:t>실행 방법과 발표 시연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91440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900" b="0">
                <a:solidFill>
                  <a:srgbClr val="68736C"/>
                </a:solidFill>
                <a:latin typeface="Malgun Gothic"/>
              </a:defRPr>
            </a:pPr>
            <a:r>
              <a:t>마음의 결 · Big Five 성향 탐색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900" b="1">
                <a:solidFill>
                  <a:srgbClr val="315846"/>
                </a:solidFill>
                <a:latin typeface="Malgun Gothic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02920" cy="347472"/>
          </a:xfrm>
          <a:prstGeom prst="roundRect">
            <a:avLst>
              <a:gd name="adj" fmla="val 15000"/>
            </a:avLst>
          </a:prstGeom>
          <a:solidFill>
            <a:srgbClr val="315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3816" y="1874519"/>
            <a:ext cx="429768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19656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600" b="1">
                <a:solidFill>
                  <a:srgbClr val="1D2924"/>
                </a:solidFill>
                <a:latin typeface="Malgun Gothic"/>
              </a:defRPr>
            </a:pPr>
            <a:r>
              <a:t>파일 열기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819656"/>
            <a:ext cx="740664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0">
                <a:solidFill>
                  <a:srgbClr val="68736C"/>
                </a:solidFill>
                <a:latin typeface="Malgun Gothic"/>
              </a:defRPr>
            </a:pPr>
            <a:r>
              <a:rPr dirty="0" err="1"/>
              <a:t>index.html을</a:t>
            </a:r>
            <a:r>
              <a:rPr dirty="0"/>
              <a:t> </a:t>
            </a:r>
            <a:r>
              <a:rPr dirty="0" err="1"/>
              <a:t>더블</a:t>
            </a:r>
            <a:r>
              <a:rPr dirty="0"/>
              <a:t> </a:t>
            </a:r>
            <a:r>
              <a:rPr dirty="0" err="1"/>
              <a:t>클릭해</a:t>
            </a:r>
            <a:r>
              <a:rPr dirty="0"/>
              <a:t> Chrome, Edge 등 </a:t>
            </a:r>
            <a:r>
              <a:rPr dirty="0" err="1"/>
              <a:t>브라우저로</a:t>
            </a:r>
            <a:r>
              <a:rPr dirty="0"/>
              <a:t> </a:t>
            </a:r>
            <a:r>
              <a:rPr dirty="0" err="1"/>
              <a:t>엽니다</a:t>
            </a:r>
            <a:r>
              <a:rPr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26080"/>
            <a:ext cx="502920" cy="347472"/>
          </a:xfrm>
          <a:prstGeom prst="roundRect">
            <a:avLst>
              <a:gd name="adj" fmla="val 15000"/>
            </a:avLst>
          </a:prstGeom>
          <a:solidFill>
            <a:srgbClr val="315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" y="2971800"/>
            <a:ext cx="429768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916936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600" b="1">
                <a:solidFill>
                  <a:srgbClr val="1D2924"/>
                </a:solidFill>
                <a:latin typeface="Malgun Gothic"/>
              </a:defRPr>
            </a:pPr>
            <a:r>
              <a:t>설문 진행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916936"/>
            <a:ext cx="740664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0">
                <a:solidFill>
                  <a:srgbClr val="68736C"/>
                </a:solidFill>
                <a:latin typeface="Malgun Gothic"/>
              </a:defRPr>
            </a:pPr>
            <a:r>
              <a:t>시작 버튼을 누르고 12문항에 응답합니다.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23360"/>
            <a:ext cx="502920" cy="347472"/>
          </a:xfrm>
          <a:prstGeom prst="roundRect">
            <a:avLst>
              <a:gd name="adj" fmla="val 15000"/>
            </a:avLst>
          </a:prstGeom>
          <a:solidFill>
            <a:srgbClr val="315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" y="4069080"/>
            <a:ext cx="429768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014216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600" b="1">
                <a:solidFill>
                  <a:srgbClr val="1D2924"/>
                </a:solidFill>
                <a:latin typeface="Malgun Gothic"/>
              </a:defRPr>
            </a:pPr>
            <a:r>
              <a:t>결과 설명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014216"/>
            <a:ext cx="740664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0">
                <a:solidFill>
                  <a:srgbClr val="68736C"/>
                </a:solidFill>
                <a:latin typeface="Malgun Gothic"/>
              </a:defRPr>
            </a:pPr>
            <a:r>
              <a:t>대표 성향과 다섯 점수 막대를 보여주며 계산 방식을 설명합니다.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5440680"/>
            <a:ext cx="1024128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200" b="1">
                <a:solidFill>
                  <a:srgbClr val="315846"/>
                </a:solidFill>
                <a:latin typeface="Malgun Gothic"/>
              </a:defRPr>
            </a:pPr>
            <a:r>
              <a:t>참고 모델: APA Dictionary of Psychology, “Big Five personality model”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E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8677D7-4963-1866-2B93-3984B3BB5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02DB70-E265-0C89-76C4-134B2DD270CB}"/>
              </a:ext>
            </a:extLst>
          </p:cNvPr>
          <p:cNvSpPr txBox="1"/>
          <p:nvPr/>
        </p:nvSpPr>
        <p:spPr>
          <a:xfrm>
            <a:off x="777240" y="658368"/>
            <a:ext cx="45720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00" b="1">
                <a:solidFill>
                  <a:srgbClr val="315846"/>
                </a:solidFill>
                <a:latin typeface="Malgun Gothic"/>
              </a:defRPr>
            </a:pPr>
            <a:r>
              <a:t>PROJECT PRESENTATION  / 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473919-CF3B-5BE2-A34B-34305F74051A}"/>
              </a:ext>
            </a:extLst>
          </p:cNvPr>
          <p:cNvSpPr txBox="1"/>
          <p:nvPr/>
        </p:nvSpPr>
        <p:spPr>
          <a:xfrm>
            <a:off x="777240" y="1463040"/>
            <a:ext cx="6949440" cy="77559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4800" b="1">
                <a:solidFill>
                  <a:srgbClr val="1D2924"/>
                </a:solidFill>
                <a:latin typeface="Malgun Gothic"/>
              </a:defRPr>
            </a:pPr>
            <a:r>
              <a:rPr lang="ko-KR" altLang="en-US" dirty="0"/>
              <a:t>감사합니다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9A652F-5E20-F942-B040-68ABFFF65DAF}"/>
              </a:ext>
            </a:extLst>
          </p:cNvPr>
          <p:cNvSpPr txBox="1"/>
          <p:nvPr/>
        </p:nvSpPr>
        <p:spPr>
          <a:xfrm>
            <a:off x="822960" y="5257800"/>
            <a:ext cx="45720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1">
                <a:solidFill>
                  <a:srgbClr val="68736C"/>
                </a:solidFill>
                <a:latin typeface="Malgun Gothic"/>
              </a:defRPr>
            </a:pPr>
            <a:r>
              <a:t>HTML · CSS · JavaScript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C8D1F8C-DC06-C6C8-208F-4DF002DDDD7B}"/>
              </a:ext>
            </a:extLst>
          </p:cNvPr>
          <p:cNvSpPr/>
          <p:nvPr/>
        </p:nvSpPr>
        <p:spPr>
          <a:xfrm>
            <a:off x="8275320" y="1143000"/>
            <a:ext cx="3017520" cy="3017520"/>
          </a:xfrm>
          <a:prstGeom prst="ellipse">
            <a:avLst/>
          </a:prstGeom>
          <a:solidFill>
            <a:srgbClr val="DCE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885D4C6-D705-7A89-243A-6E3D2C673A2A}"/>
              </a:ext>
            </a:extLst>
          </p:cNvPr>
          <p:cNvSpPr/>
          <p:nvPr/>
        </p:nvSpPr>
        <p:spPr>
          <a:xfrm>
            <a:off x="8915400" y="1783080"/>
            <a:ext cx="1737360" cy="1737360"/>
          </a:xfrm>
          <a:prstGeom prst="ellipse">
            <a:avLst/>
          </a:prstGeom>
          <a:solidFill>
            <a:srgbClr val="315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218BDE-89E8-52F0-722A-345C5FA631CB}"/>
              </a:ext>
            </a:extLst>
          </p:cNvPr>
          <p:cNvSpPr/>
          <p:nvPr/>
        </p:nvSpPr>
        <p:spPr>
          <a:xfrm>
            <a:off x="7635240" y="3246120"/>
            <a:ext cx="1280160" cy="1280160"/>
          </a:xfrm>
          <a:prstGeom prst="ellipse">
            <a:avLst/>
          </a:prstGeom>
          <a:solidFill>
            <a:srgbClr val="DDA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E7B4F4-A3D8-52D8-6DC5-3B781F736E9A}"/>
              </a:ext>
            </a:extLst>
          </p:cNvPr>
          <p:cNvSpPr txBox="1"/>
          <p:nvPr/>
        </p:nvSpPr>
        <p:spPr>
          <a:xfrm>
            <a:off x="8092440" y="6035040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315846"/>
                </a:solidFill>
                <a:latin typeface="Malgun Gothic"/>
              </a:defRPr>
            </a:pPr>
            <a:r>
              <a:t>SELF DISCOVERY, AT YOUR PACE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60320"/>
            <a:ext cx="649224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마음의 결 설문 사이트 QR 코드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52928"/>
            <a:ext cx="1645920" cy="1645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88920" y="3063240"/>
            <a:ext cx="4069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315846"/>
                </a:solidFill>
                <a:latin typeface="Malgun Gothic"/>
              </a:defRPr>
            </a:pPr>
            <a:r>
              <a:t>QR을 스캔해 직접 해보세요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703320"/>
            <a:ext cx="3977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8736C"/>
                </a:solidFill>
                <a:latin typeface="Malgun Gothic"/>
              </a:defRPr>
            </a:pPr>
            <a:r>
              <a:t>휴대폰 카메라로 QR을 스캔하고 12개 질문에 답해보세요. 다섯 성향 결과를 바로 확인할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743168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486</Words>
  <Application>Microsoft Office PowerPoint</Application>
  <PresentationFormat>와이드스크린</PresentationFormat>
  <Paragraphs>93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최명준</cp:lastModifiedBy>
  <cp:revision>9</cp:revision>
  <dcterms:created xsi:type="dcterms:W3CDTF">2013-01-27T09:14:16Z</dcterms:created>
  <dcterms:modified xsi:type="dcterms:W3CDTF">2026-10-15T04:28:53Z</dcterms:modified>
  <cp:category/>
</cp:coreProperties>
</file>